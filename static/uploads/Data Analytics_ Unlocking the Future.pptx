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Light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  <p:embeddedFont>
      <p:font typeface="Poppins" panose="020B0502040204020203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F02A30-CE47-4DCA-A864-6FB1EFA3D7DB}">
  <a:tblStyle styleId="{1FF02A30-CE47-4DCA-A864-6FB1EFA3D7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806029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STRATEGIC INTELLIGENCE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400300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Data Analytics: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Unlocking Insights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28982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Transforming raw data into strategic assets through advanced examination, visualization, and predictive modeling.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47812"/>
            <a:ext cx="1102995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715000" y="2614612"/>
            <a:ext cx="762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125378" y="2938462"/>
            <a:ext cx="994124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Core Foundation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362075" y="4033837"/>
            <a:ext cx="9467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Defining the parameters of the modern data landscape.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09650" y="291941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Scientific Examination: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process of inspecting and modeling data with the goal of discovering useful information.</a:t>
            </a:r>
            <a:endParaRPr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1009650" y="346233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Informed Decision Making: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Moving away from intuition-based choices toward evidence-based business strategies.</a:t>
            </a:r>
            <a:endParaRPr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1009650" y="4005262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Trend Discovery: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Identifying patterns and correlations within large datasets that are otherwise invisible.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09650" y="4548187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Risk Mitigation: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historical data to predict potential pitfalls and secure business operations.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57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00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5862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What is Data Analytics?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290637"/>
            <a:ext cx="52292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290637"/>
            <a:ext cx="52292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71937"/>
            <a:ext cx="52292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71937"/>
            <a:ext cx="522922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62025" y="1709737"/>
            <a:ext cx="46905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Descriptive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625" y="2200274"/>
            <a:ext cx="44672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"What happened?". </a:t>
            </a:r>
            <a:r>
              <a:rPr lang="en-US" sz="1600" dirty="0">
                <a:solidFill>
                  <a:schemeClr val="bg1"/>
                </a:solidFill>
              </a:rPr>
              <a:t>Checking old records to see what happened in the past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762750" y="1709737"/>
            <a:ext cx="46905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Diagnostic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62750" y="2300287"/>
            <a:ext cx="44672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Why did it happen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?". </a:t>
            </a:r>
            <a:r>
              <a:rPr lang="en-US" sz="1600" dirty="0">
                <a:solidFill>
                  <a:schemeClr val="bg1"/>
                </a:solidFill>
              </a:rPr>
              <a:t>Looking at past records to see how the whole company has been doing.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4491037"/>
            <a:ext cx="46905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Predictive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5081587"/>
            <a:ext cx="4467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"What might happen?" Using statistical models and machine learning to forecast future trends and probabilities.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6762750" y="4491037"/>
            <a:ext cx="46905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Prescriptive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62750" y="5081587"/>
            <a:ext cx="4467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"How can we make it happen?" Recommending specific actions based on predictions to achieve the best possible outcome.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290512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Four Main Pillars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290512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581025" y="431006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20362" y="4881562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Ingestion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5348287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Collecting data from various internal and external sources.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388131" y="216693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3448794" y="26336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Preparing raw data by removing errors and inconsistencies.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6255900" y="4881562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16563" y="5348287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Applying algorithms to extract meaningful patterns.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123670" y="216693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Visualization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184332" y="26336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Creating dashboards to communicate findings effectively.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Data Analytics Journey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679971" y="4195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547741" y="4195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415510" y="4195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0283279" y="41957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47812"/>
            <a:ext cx="1102995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5715000" y="2614612"/>
            <a:ext cx="762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1125378" y="2938462"/>
            <a:ext cx="994124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Process &amp; Technology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362075" y="4033837"/>
            <a:ext cx="9467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tools and techniques that power modern intelligence.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71253"/>
            <a:ext cx="5229225" cy="351561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81025" y="2361753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most time-consuming yet critical phase of the analytics lifecycle. High-quality output requires high-quality input.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71253"/>
            <a:ext cx="5229225" cy="351561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009650" y="3466653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Removing duplicate or irrelevant observations.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09650" y="4009578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Handling missing data through imputation.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1009650" y="4552503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Standardizing formats across different sources.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50475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47678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9060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Cleaning: The Foundation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33600"/>
            <a:ext cx="348615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33600"/>
            <a:ext cx="348615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33600"/>
            <a:ext cx="348615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962025" y="3343275"/>
            <a:ext cx="28603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Python / R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62025" y="3933825"/>
            <a:ext cx="27241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primary languages for statistical modeling, automation, and advanced machine learning libraries.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733925" y="3343275"/>
            <a:ext cx="28603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733925" y="3933825"/>
            <a:ext cx="27241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universal language for querying, managing, and structuring relational database systems.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505825" y="3343275"/>
            <a:ext cx="28603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BI Tools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505825" y="3933825"/>
            <a:ext cx="27241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Platforms like Tableau and Power BI that turn complex data into interactive visual stories.</a:t>
            </a:r>
            <a:endParaRPr/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003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3925" y="26003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5825" y="26003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Modern Tech Stack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47812"/>
            <a:ext cx="1102995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5715000" y="2614612"/>
            <a:ext cx="762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125378" y="2938462"/>
            <a:ext cx="994124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Impact &amp; Innovation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362075" y="4033837"/>
            <a:ext cx="9467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Exploring real-world value and advanced AI horizons.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81025" y="1352550"/>
            <a:ext cx="5190648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 &amp; Predictive Frontiers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81025" y="31623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Artificial Intelligence is no longer a luxury but a core component of modern data strategy.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" y="4152900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leveraging neural networks and deep learning, organizations can move beyond simple trends to autonomous prescriptive systems that optimize logistics in real-time.</a:t>
            </a:r>
            <a:endParaRPr/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18432"/>
            <a:ext cx="3486150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18432"/>
            <a:ext cx="3486150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18432"/>
            <a:ext cx="3486150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447032"/>
            <a:ext cx="31051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3425" y="2447032"/>
            <a:ext cx="31051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5325" y="2447032"/>
            <a:ext cx="31051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771525" y="4304407"/>
            <a:ext cx="326040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Financial Services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771525" y="4809232"/>
            <a:ext cx="31051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Fraud detection and algorithmic trading based on market volatility.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543425" y="4304407"/>
            <a:ext cx="326040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Healthcare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4543425" y="4809232"/>
            <a:ext cx="31051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Predictive patient outcomes and personalized medicine pathways.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315325" y="4304407"/>
            <a:ext cx="326040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Modern Retail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315325" y="4809232"/>
            <a:ext cx="31051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Demand forecasting and highly targeted customer segmentation.</a:t>
            </a:r>
            <a:endParaRPr/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2447032"/>
            <a:ext cx="31051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43425" y="2447032"/>
            <a:ext cx="31051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15325" y="2447032"/>
            <a:ext cx="31051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Industry-Specific Applications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581025" y="2843212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85%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81025" y="4271962"/>
            <a:ext cx="522922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 CEOs see data as a strategic asset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381750" y="2481262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Tangible Value Gains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381750" y="294798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Data-driven organizations are significantly more likely to acquire customers and remain profitable.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810375" y="374808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23x more likely to acquire customers.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810375" y="4291012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6x more likely to retain customers.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810375" y="483393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19x more likely to be profitable.</a:t>
            </a:r>
            <a:endParaRPr/>
          </a:p>
        </p:txBody>
      </p:sp>
      <p:pic>
        <p:nvPicPr>
          <p:cNvPr id="247" name="Google Shape;2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861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3291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8720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Business ROI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581025" y="5205412"/>
            <a:ext cx="11029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2021 (Base)20222023202420252026 (Forecast)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581025" y="568166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Projected 25% CAGR in global Big Data and Analytics software spending.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Market Growth Trends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26"/>
          <p:cNvGraphicFramePr/>
          <p:nvPr/>
        </p:nvGraphicFramePr>
        <p:xfrm>
          <a:off x="581025" y="2528887"/>
          <a:ext cx="11029950" cy="2990875"/>
        </p:xfrm>
        <a:graphic>
          <a:graphicData uri="http://schemas.openxmlformats.org/drawingml/2006/table">
            <a:tbl>
              <a:tblPr firstRow="1" bandRow="1">
                <a:noFill/>
                <a:tableStyleId>{1FF02A30-CE47-4DCA-A864-6FB1EFA3D7DB}</a:tableStyleId>
              </a:tblPr>
              <a:tblGrid>
                <a:gridCol w="273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Principle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Business Priority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Privacy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Compliance with GDPR/CCPA regulations.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Algorithmic Bias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Ensuring fairness in automated decisions.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Sovereignty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 over where data is stored/processed.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Transparency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Ability to explain AI-driven outcomes.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8" name="Google Shape;268;p26"/>
          <p:cNvSpPr/>
          <p:nvPr/>
        </p:nvSpPr>
        <p:spPr>
          <a:xfrm>
            <a:off x="581025" y="3733800"/>
            <a:ext cx="2735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3316932" y="3733800"/>
            <a:ext cx="61881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9505057" y="3733800"/>
            <a:ext cx="2105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81025" y="4324350"/>
            <a:ext cx="2735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316932" y="4324350"/>
            <a:ext cx="61881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9505057" y="4324350"/>
            <a:ext cx="2105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581025" y="4914900"/>
            <a:ext cx="2735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3316932" y="4914900"/>
            <a:ext cx="61881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9505057" y="4914900"/>
            <a:ext cx="2105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81025" y="5505450"/>
            <a:ext cx="2735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3316932" y="5505450"/>
            <a:ext cx="61881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9505057" y="5505450"/>
            <a:ext cx="2105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Governance &amp; Ethics</a:t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63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063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6381750" y="2590800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Hyper-Connectivity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6381750" y="3057525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analytics is moving closer to the source (The Edge). Instead of processing everything in the cloud, future systems will make split-second decisions locally—powering autonomous vehicles and smart cities.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6381750" y="44672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integration of IoT and 5G will enable truly real-time prescriptive analytics at a global scale.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809625" y="581025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Future: Edge &amp; Real-time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581025" y="1794569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305276" y="2213669"/>
            <a:ext cx="11581447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581025" y="4023419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strategic.analytics@example.com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581025" y="456813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www.analytics-future.com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581025" y="128245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581025" y="226531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81025" y="324817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81025" y="4032944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581025" y="481771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81025" y="22557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581025" y="22557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581025" y="32386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581025" y="32386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81025" y="40234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81025" y="40234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581025" y="480819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581025" y="480819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581025" y="559296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581025" y="559296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309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1676400" y="142532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https://media.istockphoto.com/id/2230014057/photo/close-up-of-typescript-code-defining-interfaces-for-product-and-category-data-structures.jpg?s=612x612&amp;w=is&amp;k=20&amp;c=GiBw8We88aI-IRuh60U465pAcKYwA9GSaVnCzyZAE9k=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1676400" y="186913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id="326" name="Google Shape;32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5138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1676400" y="240818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https://img.freepik.com/premium-photo/abstract-image-neural-connections-blue-background-technological-background-design-theme-artificial-intelligence-big-date-neural-connections_1028938-510080.jpg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1676400" y="285199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id="329" name="Google Shape;32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975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 txBox="1"/>
          <p:nvPr/>
        </p:nvSpPr>
        <p:spPr>
          <a:xfrm>
            <a:off x="1676400" y="339104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https://www.slidegeeks.com/media/catalog/product/cache/560x315/F/u/Fundamental_Trend_Analysis_Of_Stock_Market_Dashboard_Professional_PDF_Slide_1_1.jpg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1676400" y="363676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www.slidegeeks.com</a:t>
            </a:r>
            <a:endParaRPr/>
          </a:p>
        </p:txBody>
      </p:sp>
      <p:pic>
        <p:nvPicPr>
          <p:cNvPr id="332" name="Google Shape;33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823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1676400" y="417581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https://www.coherentmarketinsights.com/images/research-%20methodology/digital-health-monitoring-devices-market-key-factors.webp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1676400" y="442153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www.coherentmarketinsights.com</a:t>
            </a:r>
            <a:endParaRPr/>
          </a:p>
        </p:txBody>
      </p:sp>
      <p:pic>
        <p:nvPicPr>
          <p:cNvPr id="335" name="Google Shape;335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9671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9"/>
          <p:cNvSpPr txBox="1"/>
          <p:nvPr/>
        </p:nvSpPr>
        <p:spPr>
          <a:xfrm>
            <a:off x="1676400" y="496059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https://mi9retail.com/wp-content/uploads/2025/12/Wordpress-Feature-Image-11.png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1676400" y="520630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mi9retail.com</a:t>
            </a:r>
            <a:endParaRPr/>
          </a:p>
        </p:txBody>
      </p:sp>
      <p:pic>
        <p:nvPicPr>
          <p:cNvPr id="338" name="Google Shape;338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8510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/>
        </p:nvSpPr>
        <p:spPr>
          <a:xfrm>
            <a:off x="1676400" y="574536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https://png.pngtree.com/thumb_back/fw800/background/20251225/pngtree-futuristic-holographic-display-with-data-visualization-in-a-modern-presentation-room-image_20909826.webp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1676400" y="618916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809625" y="282326"/>
            <a:ext cx="1134141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581025" y="282326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Widescreen</PresentationFormat>
  <Paragraphs>102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Inter Light</vt:lpstr>
      <vt:lpstr>Inter</vt:lpstr>
      <vt:lpstr>Arial</vt:lpstr>
      <vt:lpstr>Calibri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Arjun Gaikwad</cp:lastModifiedBy>
  <cp:revision>1</cp:revision>
  <dcterms:modified xsi:type="dcterms:W3CDTF">2026-02-09T16:07:54Z</dcterms:modified>
</cp:coreProperties>
</file>